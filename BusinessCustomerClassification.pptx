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monthly_spend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</c:v>
                  </c:pt>
                  <c:pt idx="1">
                    <c:v>Median</c:v>
                  </c:pt>
                  <c:pt idx="2">
                    <c:v>Mean</c:v>
                  </c:pt>
                  <c:pt idx="3">
                    <c:v>Max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</c:v>
                </c:pt>
                <c:pt idx="1">
                  <c:v>396.84</c:v>
                </c:pt>
                <c:pt idx="2">
                  <c:v>7946.09</c:v>
                </c:pt>
                <c:pt idx="3">
                  <c:v>1102074.94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2000000"/>
          <c:min val="0.01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high_risk (magnitude)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customer_index</c:v>
                  </c:pt>
                  <c:pt idx="1">
                    <c:v>visits</c:v>
                  </c:pt>
                  <c:pt idx="2">
                    <c:v>customer_age</c:v>
                  </c:pt>
                  <c:pt idx="3">
                    <c:v>monthly_spend</c:v>
                  </c:pt>
                  <c:pt idx="4">
                    <c:v>complaints (negative)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0.806</c:v>
                </c:pt>
                <c:pt idx="1">
                  <c:v>0.802</c:v>
                </c:pt>
                <c:pt idx="2">
                  <c:v>0.214</c:v>
                </c:pt>
                <c:pt idx="3">
                  <c:v>0.11</c:v>
                </c:pt>
                <c:pt idx="4">
                  <c:v>0.082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1" i="0" u="none" strike="noStrike">
                <a:solidFill>
                  <a:srgbClr val="141B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b"/>
        <c:majorGridlines>
          <c:spPr>
            <a:ln w="9525" cap="flat">
              <a:solidFill>
                <a:srgbClr val="DCE3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99.8</c:v>
                </c:pt>
                <c:pt idx="1">
                  <c:v>96.4</c:v>
                </c:pt>
                <c:pt idx="2">
                  <c:v>97.8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99.8</c:v>
                </c:pt>
                <c:pt idx="1">
                  <c:v>96.59</c:v>
                </c:pt>
                <c:pt idx="2">
                  <c:v>97.42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99.8</c:v>
                </c:pt>
                <c:pt idx="1">
                  <c:v>96.2</c:v>
                </c:pt>
                <c:pt idx="2">
                  <c:v>98.2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5B65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99.8</c:v>
                </c:pt>
                <c:pt idx="1">
                  <c:v>96.39</c:v>
                </c:pt>
                <c:pt idx="2">
                  <c:v>97.81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41B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9525" cap="flat">
              <a:solidFill>
                <a:srgbClr val="DCE3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1B4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1B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visits</c:v>
                  </c:pt>
                  <c:pt idx="1">
                    <c:v>customer_age</c:v>
                  </c:pt>
                  <c:pt idx="2">
                    <c:v>monthly_spend</c:v>
                  </c:pt>
                  <c:pt idx="3">
                    <c:v>complaints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0.745</c:v>
                </c:pt>
                <c:pt idx="1">
                  <c:v>0.168</c:v>
                </c:pt>
                <c:pt idx="2">
                  <c:v>0.056</c:v>
                </c:pt>
                <c:pt idx="3">
                  <c:v>0.031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41B4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visits</c:v>
                  </c:pt>
                  <c:pt idx="1">
                    <c:v>customer_age</c:v>
                  </c:pt>
                  <c:pt idx="2">
                    <c:v>monthly_spend</c:v>
                  </c:pt>
                  <c:pt idx="3">
                    <c:v>complaints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0.792</c:v>
                </c:pt>
                <c:pt idx="1">
                  <c:v>0.12</c:v>
                </c:pt>
                <c:pt idx="2">
                  <c:v>0.063</c:v>
                </c:pt>
                <c:pt idx="3">
                  <c:v>0.025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50" u="none">
                  <a:solidFill>
                    <a:srgbClr val="141B4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1" i="0" u="none" strike="noStrike">
                <a:solidFill>
                  <a:srgbClr val="141B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b"/>
        <c:majorGridlines>
          <c:spPr>
            <a:ln w="9525" cap="flat">
              <a:solidFill>
                <a:srgbClr val="DCE3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41B4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0" y="4206240"/>
            <a:ext cx="5029200" cy="5029200"/>
          </a:xfrm>
          <a:prstGeom prst="ellipse">
            <a:avLst/>
          </a:prstGeom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Customer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binary classification system for identifying High-Risk customers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31920" y="489204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4983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31920" y="54864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489204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141B49"/>
          </a:solidFill>
          <a:ln w="952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983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54864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•  Decision Tree  •  Random Forest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High-Risk Customers Early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309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to identify customers who may require additional attention because of their risk characteristics. Early identification supports better customer management, prioritized interventions, and more effective resource allocation.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6309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customer into one of two categories using their behavioral data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age, spending, visit frequency, and complaints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potentially high-risk customers before business action is required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7804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Possible Outcomes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78040" y="1920240"/>
            <a:ext cx="4572000" cy="1600200"/>
          </a:xfrm>
          <a:prstGeom prst="roundRect">
            <a:avLst>
              <a:gd name="adj" fmla="val 5143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0940" y="2372868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520940" y="23728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36676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shows standard behavioral characteristics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3703320"/>
            <a:ext cx="4572000" cy="1600200"/>
          </a:xfrm>
          <a:prstGeom prst="roundRect">
            <a:avLst>
              <a:gd name="adj" fmla="val 5143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0940" y="4155948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7520940" y="41559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36676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42976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requires closer monitoring or intervention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Supervised Binary Classification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means the algorithm learns from historical data where the correct outcome — the target variable — is already known. Here, the target variable is high_risk, coded 0 (Low Risk) or 1 (High Risk).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EDF2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3512" y="260604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EDF2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3512" y="26060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monthly_spend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49824" y="260604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EDF2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9824" y="26060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46136" y="2606040"/>
            <a:ext cx="2331720" cy="566928"/>
          </a:xfrm>
          <a:prstGeom prst="roundRect">
            <a:avLst>
              <a:gd name="adj" fmla="val 11290"/>
            </a:avLst>
          </a:prstGeom>
          <a:solidFill>
            <a:srgbClr val="EDF2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6136" y="26060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00200" y="3172968"/>
            <a:ext cx="0" cy="32004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67528" y="3172968"/>
            <a:ext cx="0" cy="36576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557016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5701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  (Logistic Regression  •  Decision Tree  •  Random Forest)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67528" y="4334256"/>
            <a:ext cx="0" cy="36576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95728" y="4700016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2395728" y="470001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— Low Risk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04688" y="4700016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5504688" y="4700016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— High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5614416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algn="ctr"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customer_index was initially available as a predictor but was later excluded — see Target Leakage Investigation.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3677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2585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3677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25856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5409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9260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05409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3675888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72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 / 50%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" y="5193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 vs.  High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4572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target distribution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training and test sets — no class-balancing (e.g. SMOTE) was required.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508760"/>
          <a:ext cx="53949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429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customer_age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of the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monthly_spend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Customer's monthly spending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visits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customer visits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complaints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complaints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customer_index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Constructed customer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high_risk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classification (0 /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25880"/>
                <a:gridCol w="1325880"/>
                <a:gridCol w="1325880"/>
                <a:gridCol w="1325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48.45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39.90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B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0.069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7,946.09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396.84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394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1,102,074.94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947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monthly_spend is highly right-skewed — its mean (7,946) is over 20× its median (397), driven by extreme high-value observations up to 1.1M.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6177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and zero duplicate rows across all 5,000 records — no imputation or deduplication was required.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366760" y="1463040"/>
            <a:ext cx="3383280" cy="4709160"/>
          </a:xfrm>
          <a:prstGeom prst="roundRect">
            <a:avLst>
              <a:gd name="adj" fmla="val 2432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monthly_spend Skew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549640" y="2103120"/>
          <a:ext cx="3063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8595360" y="5806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scale — illustrates the extreme spread from ~0 to over 1.1M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the Target Variable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 correlation magnitude; complaints is the only negative relationship (-0.082) — more complaints trend slightly toward Low Risk.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635240" y="1417320"/>
            <a:ext cx="4114800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signal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0" y="192024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customer_index (0.806) and visits (0.802) show the strongest relationships with high_risk — customers with more visits tend toward higher risk classification.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3749040"/>
            <a:ext cx="4114800" cy="2240280"/>
          </a:xfrm>
          <a:prstGeom prst="roundRect">
            <a:avLst>
              <a:gd name="adj" fmla="val 3673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904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≠ Causation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0" y="4251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indicate only the strength and direction of a statistical relationship — customer_index's unusually strong score is investigated next as a possible leakage signal.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Leakage Investigation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 occurs when an input feature contains information directly or indirectly derived from the target — giving the model information it would not legitimately have at prediction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233172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monthly_spend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233172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233172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331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2834640"/>
            <a:ext cx="0" cy="32004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31720" y="3154680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31546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customer_index  (constructed)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3721608"/>
            <a:ext cx="0" cy="320040"/>
          </a:xfrm>
          <a:prstGeom prst="line">
            <a:avLst/>
          </a:prstGeom>
          <a:noFill/>
          <a:ln w="19050">
            <a:solidFill>
              <a:srgbClr val="5B658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31720" y="4041648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40416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  (target)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35240" y="233172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found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818120" y="2788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customer_index ≈ 2.481 — exactly 2,500 customers fell at/below it and 2,500 above, matching the 50/50 target split precisely.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397764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4114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818120" y="443484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customer_index was excluded from the final feature set despite its 0.806 correlation, since the target was constructed directly from 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</a:t>
            </a:r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can be mathematically useful but still inappropriate for prediction if it contains information derived from the target.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 &amp; Algorithms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 Stratified Split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1874520"/>
            <a:ext cx="1024128" cy="594360"/>
          </a:xfrm>
          <a:prstGeom prst="roundRect">
            <a:avLst>
              <a:gd name="adj" fmla="val 9231"/>
            </a:avLst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Training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53712" y="1874520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preserved via stratification — 50% Low Risk / 50% High Risk in both sets. Four features used: customer_age, monthly_spend, visits, complaints.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Algorithms Investigated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" y="46405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" y="46405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71600" y="45902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probability an observation belongs to the High Risk class.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97680" y="448056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9140" y="46405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49140" y="46405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5212080" y="45902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0" y="51663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via sequential decision rules; captures non-linear interactions.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138160" y="4480560"/>
            <a:ext cx="3657600" cy="1737360"/>
          </a:xfrm>
          <a:prstGeom prst="roundRect">
            <a:avLst>
              <a:gd name="adj" fmla="val 4737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89620" y="46405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389620" y="46405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9052560" y="45902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12480" y="516636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many decision trees combined for a more robust prediction.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371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138160" y="18288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8366760" y="2212848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836676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9" name="Text 6"/>
          <p:cNvSpPr/>
          <p:nvPr/>
        </p:nvSpPr>
        <p:spPr>
          <a:xfrm>
            <a:off x="9098280" y="19933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098280" y="239572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99.80% accuracy · 0.12% gap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3310128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66760" y="369417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8366760" y="3694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4" name="Text 11"/>
          <p:cNvSpPr/>
          <p:nvPr/>
        </p:nvSpPr>
        <p:spPr>
          <a:xfrm>
            <a:off x="9098280" y="3474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098280" y="387705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97.80% accuracy · 2.20% gap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8160" y="4791456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66760" y="51755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366760" y="5175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6"/>
          <p:cNvSpPr/>
          <p:nvPr/>
        </p:nvSpPr>
        <p:spPr>
          <a:xfrm>
            <a:off x="9098280" y="495604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9098280" y="535838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96.40% accuracy · 3.60% gap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1,000-record test set — rows are actual class, columns are predicted class.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84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609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26806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260604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6609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86000" y="326806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62651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8137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428853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0" y="362651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368137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86000" y="428853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784141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88536" y="192024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8536" y="2084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0016" y="260604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26609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00016" y="326806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17336" y="260604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26609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17336" y="326806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0016" y="362651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368137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0016" y="428853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17336" y="362651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368137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17336" y="428853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88536" y="4784141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</a:t>
            </a:r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119872" y="192024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20848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531352" y="260604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31352" y="26609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531352" y="326806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948672" y="260604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48672" y="266090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948672" y="326806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31352" y="362651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31352" y="368137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531352" y="428853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948672" y="3626510"/>
            <a:ext cx="1325880" cy="954634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48672" y="3681374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491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948672" y="428853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119872" y="4784141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</a:t>
            </a:r>
            <a:pPr algn="ctr"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errors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(Tree-Based Models)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63040"/>
            <a:ext cx="3931920" cy="233172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6276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both models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2450592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 of Decision Tree importance and 79.2% of Random Forest importance — consistent with its strong 0.802 correlation with the target.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18120" y="3977640"/>
            <a:ext cx="3931920" cy="2103120"/>
          </a:xfrm>
          <a:prstGeom prst="roundRect">
            <a:avLst>
              <a:gd name="adj" fmla="val 3913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order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0" y="44348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— dominant driver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customer_age — secondary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monthly_spend — minor</a:t>
            </a:r>
            <a:endParaRPr lang="en-US" sz="11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— minor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Final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1188720"/>
          </a:xfrm>
          <a:prstGeom prst="roundRect">
            <a:avLst>
              <a:gd name="adj" fmla="val 6923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99.80%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test 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11880" cy="1188720"/>
          </a:xfrm>
          <a:prstGeom prst="roundRect">
            <a:avLst>
              <a:gd name="adj" fmla="val 6923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66420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99.80%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480560" y="2267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611880" cy="1188720"/>
          </a:xfrm>
          <a:prstGeom prst="roundRect">
            <a:avLst>
              <a:gd name="adj" fmla="val 6923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66420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99.80%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321040" y="22677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611880" cy="1188720"/>
          </a:xfrm>
          <a:prstGeom prst="roundRect">
            <a:avLst>
              <a:gd name="adj" fmla="val 6923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8152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99.80%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40080" y="36850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F1-score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971800"/>
            <a:ext cx="3611880" cy="1188720"/>
          </a:xfrm>
          <a:prstGeom prst="roundRect">
            <a:avLst>
              <a:gd name="adj" fmla="val 6923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08152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100.00%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4480560" y="36850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2971800"/>
            <a:ext cx="3611880" cy="1188720"/>
          </a:xfrm>
          <a:prstGeom prst="roundRect">
            <a:avLst>
              <a:gd name="adj" fmla="val 6923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08152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 pts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321040" y="368503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accuracy gap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misclassifications occurred across the entire 1,000-record test set.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54864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via joblib as group5_logistic_regression_model.pkl — loaded and integrated into an application that accepts customer age, spend, visits, and complaints, and returns a Low Risk / High Risk prediction.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to Keep in Mind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" y="16687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08660" y="1668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371600" y="15910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Dataset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93392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generated synthetically, not collected from real customers — high performance may not generalize.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5100" y="16687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1668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178040" y="15910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Target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1993392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was built from a mathematical rule, making the problem more structured than typical real-world tasks.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" y="33604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371600" y="32826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Leakage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685032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customer_index was involved in constructing the target and was correctly excluded from modeling.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263640" y="315468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5100" y="33604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178040" y="32826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Spending Values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3685032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monthly_spend contains very large outliers that need further validation against real business data.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 w="12700">
            <a:solidFill>
              <a:srgbClr val="DCE3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" y="50520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" y="50520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371600" y="497433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Experiments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376672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outlier removal, cross-validation, and tuning were not quantitatively recorded in this run.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65836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5,000-record dataset with no missing values or duplicates; monthly_spend highly skewed with extreme outliers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customer_index identified as a target-leakage risk and excluded from the final feature set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 — Logistic Regression, Decision Tree, and Random Forest — using Accuracy, Precision, Recall, F1, and ROC-AUC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was the most influential predictor across both tree-based models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selected as the final model: best generalization, simplicity, and predictive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463040"/>
            <a:ext cx="4343400" cy="4480560"/>
          </a:xfrm>
          <a:prstGeom prst="roundRect">
            <a:avLst>
              <a:gd name="adj" fmla="val 189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916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 With Caution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35240" y="2194560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dataset is synthetic and the target was mathematically constructed, the 99.8% accuracy achieved should not be expected to carry over directly to real-world customer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3794760"/>
            <a:ext cx="3886200" cy="0"/>
          </a:xfrm>
          <a:prstGeom prst="line">
            <a:avLst/>
          </a:prstGeom>
          <a:noFill/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402336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deployment, the model should be validated on independent real-world data and subjected to cross-validation, hyperparameter tuning, and robustness testing.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Path to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9476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08026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73552" y="1600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9476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25312" y="208026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89904" y="1600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99632" y="19476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Investigation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41664" y="208026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06256" y="16002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15984" y="19476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31821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0" y="331470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73552" y="28346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1821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25312" y="331470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9904" y="28346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31821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41664" y="331470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06256" y="28346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15984" y="29077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15984" y="31821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142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441655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108960" y="454914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273552" y="40690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4142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3280" y="441655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25312" y="454914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089904" y="40690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4142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99632" y="441655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741664" y="4549140"/>
            <a:ext cx="164592" cy="0"/>
          </a:xfrm>
          <a:prstGeom prst="line">
            <a:avLst/>
          </a:prstGeom>
          <a:noFill/>
          <a:ln w="19050">
            <a:solidFill>
              <a:srgbClr val="CADCFC">
                <a:alpha val="75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906256" y="40690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41B49"/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15984" y="41422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015984" y="441655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rely solely on the 99.8% accuracy from this synthetic dataset — test on real, independent customer data before trusting the model in production.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 Classification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2026-08-19T04:39:51Z</dcterms:created>
  <dcterms:modified xsi:type="dcterms:W3CDTF">2026-08-19T04:39:51Z</dcterms:modified>
</cp:coreProperties>
</file>